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58" r:id="rId5"/>
    <p:sldId id="259" r:id="rId6"/>
    <p:sldId id="261" r:id="rId7"/>
    <p:sldId id="262" r:id="rId8"/>
    <p:sldId id="263" r:id="rId9"/>
    <p:sldId id="260" r:id="rId10"/>
    <p:sldId id="264" r:id="rId12"/>
    <p:sldId id="265" r:id="rId13"/>
    <p:sldId id="266" r:id="rId14"/>
    <p:sldId id="267" r:id="rId15"/>
    <p:sldId id="269" r:id="rId16"/>
    <p:sldId id="270" r:id="rId17"/>
    <p:sldId id="271" r:id="rId18"/>
    <p:sldId id="274" r:id="rId19"/>
    <p:sldId id="26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Scaler centers data around 0 and scales it to unit variance</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Using a model previously learn that fits multiple decision trees to learn which features are most important.</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Reduces high-dimensional data to 2D for visualization</a:t>
            </a:r>
            <a:endParaRPr lang="en-US" altLang="en-US"/>
          </a:p>
          <a:p>
            <a:r>
              <a:rPr lang="en-US" altLang="en-US"/>
              <a:t>Applies PCA transformation to the standardized data</a:t>
            </a:r>
            <a:endParaRPr lang="en-US" altLang="en-US"/>
          </a:p>
          <a:p>
            <a:r>
              <a:rPr lang="en-US" altLang="en-US"/>
              <a:t>Inertia: Measures how tightly data points are clustered. Lower being better.</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n_neighbours = 5 being an arbritary number. As I felt any lower might be overfitting the model.</a:t>
            </a:r>
            <a:endParaRPr lang="en-US"/>
          </a:p>
          <a:p>
            <a:endParaRPr lang="en-US"/>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The Davies-Bouldin Index is a validation metric that is used to evaluate clustering models. It is calculated as the average similarity measure of each cluster with the cluster most similar to it. In this context, similarity is defined as the ratio between inter-cluster and intra-cluster distances. As such, this index ranks well-separated clusters with less dispersion as having a better score.</a:t>
            </a:r>
            <a:endParaRPr lang="en-US" altLang="en-US"/>
          </a:p>
          <a:p>
            <a:endParaRPr lang="en-US" altLang="en-US"/>
          </a:p>
          <a:p>
            <a:r>
              <a:rPr lang="en-US" altLang="en-US"/>
              <a:t>Advantages of the Davies-Bouldin Index</a:t>
            </a:r>
            <a:endParaRPr lang="en-US" altLang="en-US"/>
          </a:p>
          <a:p>
            <a:r>
              <a:rPr lang="en-US" altLang="en-US"/>
              <a:t>The DBI is a relative metric, which means that it can be used to compare the clustering results of different algorithms on the same dataset.</a:t>
            </a:r>
            <a:endParaRPr lang="en-US" altLang="en-US"/>
          </a:p>
          <a:p>
            <a:r>
              <a:rPr lang="en-US" altLang="en-US"/>
              <a:t>The DBI has a clear interpretation: a lower DBI value indicates more compact and well-separated clusters.</a:t>
            </a:r>
            <a:endParaRPr lang="en-US" altLang="en-US"/>
          </a:p>
          <a:p>
            <a:r>
              <a:rPr lang="en-US" altLang="en-US"/>
              <a:t>It is a relatively simple metric to calculate.</a:t>
            </a:r>
            <a:endParaRPr lang="en-US" altLang="en-US"/>
          </a:p>
          <a:p>
            <a:r>
              <a:rPr lang="en-US" altLang="en-US"/>
              <a:t>It provides a global measure of the quality of a clustering solution.</a:t>
            </a:r>
            <a:endParaRPr lang="en-US" altLang="en-US"/>
          </a:p>
          <a:p>
            <a:r>
              <a:rPr lang="en-US" altLang="en-US"/>
              <a:t>It is relatively insensitive to the choice of distance metric.</a:t>
            </a:r>
            <a:endParaRPr lang="en-US" altLang="en-US"/>
          </a:p>
          <a:p>
            <a:r>
              <a:rPr lang="en-US" altLang="en-US"/>
              <a:t>Limitations of the Davies-Bouldin Index</a:t>
            </a:r>
            <a:endParaRPr lang="en-US" altLang="en-US"/>
          </a:p>
          <a:p>
            <a:r>
              <a:rPr lang="en-US" altLang="en-US"/>
              <a:t>The Davies-Bouldin Index is sensitive to outliers and noise in the data.</a:t>
            </a:r>
            <a:endParaRPr lang="en-US" altLang="en-US"/>
          </a:p>
          <a:p>
            <a:r>
              <a:rPr lang="en-US" altLang="en-US"/>
              <a:t>The Davies-Bouldin Index does not take into account the structure or distribution of data, such as clusters within clusters or non-linear relationships.</a:t>
            </a:r>
            <a:endParaRPr lang="en-US" altLang="en-US"/>
          </a:p>
          <a:p>
            <a:r>
              <a:rPr lang="en-US" altLang="en-US"/>
              <a:t>The Davies-Bouldin Index only considers the pairwise distances between cluster centroids and cluster members.</a:t>
            </a:r>
            <a:endParaRPr lang="en-US" altLang="en-US"/>
          </a:p>
          <a:p>
            <a:r>
              <a:rPr lang="en-US" altLang="en-US"/>
              <a:t>The DBI can be computationally expensive to calculate for large datasets.</a:t>
            </a:r>
            <a:endParaRPr lang="en-US" altLang="en-US"/>
          </a:p>
          <a:p>
            <a:r>
              <a:rPr lang="en-US" altLang="en-US"/>
              <a:t>The DBI is not suitable for all clustering tasks. For example, it is not well-suited for clustering tasks where the clusters are not well-separated.</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Wine Dataset</a:t>
            </a:r>
            <a:endParaRPr lang="en-US" altLang="en-US" dirty="0"/>
          </a:p>
        </p:txBody>
      </p:sp>
      <p:sp>
        <p:nvSpPr>
          <p:cNvPr id="3" name="Subtitle 2"/>
          <p:cNvSpPr>
            <a:spLocks noGrp="1"/>
          </p:cNvSpPr>
          <p:nvPr>
            <p:ph type="subTitle" idx="1"/>
          </p:nvPr>
        </p:nvSpPr>
        <p:spPr/>
        <p:txBody>
          <a:bodyPr/>
          <a:lstStyle/>
          <a:p>
            <a:r>
              <a:rPr lang="en-US"/>
              <a:t>Tan Han Rong</a:t>
            </a:r>
            <a:endParaRPr lang="en-US"/>
          </a:p>
          <a:p>
            <a:r>
              <a:rPr lang="en-US"/>
              <a:t>Let’s wine about it.</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Contents Page</a:t>
            </a:r>
            <a:endParaRPr lang="en-US"/>
          </a:p>
        </p:txBody>
      </p:sp>
      <p:sp>
        <p:nvSpPr>
          <p:cNvPr id="3" name="Content Placeholder 2"/>
          <p:cNvSpPr>
            <a:spLocks noGrp="1"/>
          </p:cNvSpPr>
          <p:nvPr>
            <p:ph idx="1"/>
          </p:nvPr>
        </p:nvSpPr>
        <p:spPr/>
        <p:txBody>
          <a:bodyPr/>
          <a:p>
            <a:r>
              <a:rPr lang="en-US" sz="2800">
                <a:sym typeface="+mn-ea"/>
              </a:rPr>
              <a:t>Description of data</a:t>
            </a:r>
            <a:endParaRPr lang="en-US" sz="2800">
              <a:sym typeface="+mn-ea"/>
            </a:endParaRPr>
          </a:p>
          <a:p>
            <a:r>
              <a:rPr lang="en-US" sz="2800">
                <a:sym typeface="+mn-ea"/>
              </a:rPr>
              <a:t>Background Research</a:t>
            </a:r>
            <a:endParaRPr lang="en-US" sz="2800">
              <a:sym typeface="+mn-ea"/>
            </a:endParaRPr>
          </a:p>
          <a:p>
            <a:r>
              <a:rPr lang="en-US" sz="2800">
                <a:sym typeface="+mn-ea"/>
              </a:rPr>
              <a:t>Data Exploration</a:t>
            </a:r>
            <a:endParaRPr lang="en-US" sz="2800"/>
          </a:p>
          <a:p>
            <a:r>
              <a:rPr lang="en-US" sz="2800">
                <a:sym typeface="+mn-ea"/>
              </a:rPr>
              <a:t>Start of code</a:t>
            </a:r>
            <a:endParaRPr lang="en-US" sz="2800">
              <a:sym typeface="+mn-ea"/>
            </a:endParaRPr>
          </a:p>
          <a:p>
            <a:r>
              <a:rPr lang="en-US" sz="2800">
                <a:sym typeface="+mn-ea"/>
              </a:rPr>
              <a:t>Elbow method</a:t>
            </a:r>
            <a:endParaRPr lang="en-US" sz="2800"/>
          </a:p>
          <a:p>
            <a:r>
              <a:rPr lang="en-US" sz="2800">
                <a:sym typeface="+mn-ea"/>
              </a:rPr>
              <a:t>Silhouette Score</a:t>
            </a:r>
            <a:endParaRPr lang="en-US" sz="2800"/>
          </a:p>
          <a:p>
            <a:r>
              <a:rPr lang="en-US" sz="2800">
                <a:sym typeface="+mn-ea"/>
              </a:rPr>
              <a:t>Clustering Methods</a:t>
            </a:r>
            <a:endParaRPr lang="en-US" sz="2800"/>
          </a:p>
          <a:p>
            <a:r>
              <a:rPr lang="en-US" sz="2800">
                <a:sym typeface="+mn-ea"/>
              </a:rPr>
              <a:t>Evaluation Metrics</a:t>
            </a:r>
            <a:endParaRPr lang="en-US" sz="2800">
              <a:sym typeface="+mn-ea"/>
            </a:endParaRPr>
          </a:p>
          <a:p>
            <a:r>
              <a:rPr lang="en-US" sz="2800">
                <a:sym typeface="+mn-ea"/>
              </a:rPr>
              <a:t>Scatter plot to better show the features</a:t>
            </a:r>
            <a:endParaRPr lang="en-US" sz="2800">
              <a:sym typeface="+mn-ea"/>
            </a:endParaRPr>
          </a:p>
          <a:p>
            <a:r>
              <a:rPr lang="en-US" sz="2800">
                <a:sym typeface="+mn-ea"/>
              </a:rPr>
              <a:t>Conclusion</a:t>
            </a:r>
            <a:endParaRPr lang="en-US" sz="2800">
              <a:sym typeface="+mn-ea"/>
            </a:endParaRPr>
          </a:p>
          <a:p>
            <a:r>
              <a:rPr lang="en-US" sz="2800">
                <a:sym typeface="+mn-ea"/>
              </a:rPr>
              <a:t>Sources</a:t>
            </a:r>
            <a:endParaRPr lang="en-US" sz="2800"/>
          </a:p>
          <a:p>
            <a:endParaRPr lang="en-US"/>
          </a:p>
          <a:p>
            <a:endParaRPr lang="en-US"/>
          </a:p>
        </p:txBody>
      </p:sp>
      <p:sp>
        <p:nvSpPr>
          <p:cNvPr id="4" name="Rounded Rectangle 3"/>
          <p:cNvSpPr/>
          <p:nvPr/>
        </p:nvSpPr>
        <p:spPr>
          <a:xfrm>
            <a:off x="307340" y="2262505"/>
            <a:ext cx="7793990" cy="3472180"/>
          </a:xfrm>
          <a:prstGeom prst="roundRect">
            <a:avLst/>
          </a:prstGeom>
          <a:solidFill>
            <a:schemeClr val="accent5">
              <a:lumMod val="20000"/>
              <a:lumOff val="80000"/>
              <a:alpha val="20000"/>
            </a:schemeClr>
          </a:solidFill>
          <a:ln w="28575" cap="flat" cmpd="sng" algn="ctr">
            <a:solidFill>
              <a:srgbClr val="0070C0"/>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Description of data</a:t>
            </a:r>
            <a:endParaRPr lang="en-US"/>
          </a:p>
        </p:txBody>
      </p:sp>
      <p:sp>
        <p:nvSpPr>
          <p:cNvPr id="3" name="Content Placeholder 2"/>
          <p:cNvSpPr>
            <a:spLocks noGrp="1"/>
          </p:cNvSpPr>
          <p:nvPr>
            <p:ph idx="1"/>
          </p:nvPr>
        </p:nvSpPr>
        <p:spPr/>
        <p:txBody>
          <a:bodyPr/>
          <a:p>
            <a:r>
              <a:rPr lang="en-US"/>
              <a:t>Wine data updated by </a:t>
            </a:r>
            <a:r>
              <a:rPr lang="en-US" altLang="en-US"/>
              <a:t>C.Blake in 1998. </a:t>
            </a:r>
            <a:endParaRPr lang="en-US" altLang="en-US"/>
          </a:p>
          <a:p>
            <a:r>
              <a:rPr lang="en-US" altLang="en-US"/>
              <a:t>178 instances </a:t>
            </a:r>
            <a:endParaRPr lang="en-US" altLang="en-US"/>
          </a:p>
          <a:p>
            <a:r>
              <a:rPr lang="en-US" altLang="en-US"/>
              <a:t>With 13 features donated by Riccardo Leardi.</a:t>
            </a:r>
            <a:endParaRPr lang="en-US" altLang="en-US"/>
          </a:p>
          <a:p>
            <a:pPr marL="0" indent="0">
              <a:buNone/>
            </a:pPr>
            <a:r>
              <a:rPr lang="en-US" altLang="en-US" sz="1600">
                <a:highlight>
                  <a:srgbClr val="FFFF00"/>
                </a:highlight>
              </a:rPr>
              <a:t>1) Alcohol</a:t>
            </a:r>
            <a:endParaRPr lang="en-US" altLang="en-US" sz="1600">
              <a:highlight>
                <a:srgbClr val="FFFF00"/>
              </a:highlight>
            </a:endParaRPr>
          </a:p>
          <a:p>
            <a:pPr marL="0" indent="0">
              <a:buNone/>
            </a:pPr>
            <a:r>
              <a:rPr lang="en-US" altLang="en-US" sz="1600">
                <a:highlight>
                  <a:srgbClr val="FFFF00"/>
                </a:highlight>
              </a:rPr>
              <a:t>2) Malic acid </a:t>
            </a:r>
            <a:r>
              <a:rPr lang="en-US" altLang="en-US" sz="1600"/>
              <a:t>(too much: sour and tart, too little: flat taste)</a:t>
            </a:r>
            <a:endParaRPr lang="en-US" altLang="en-US" sz="1600"/>
          </a:p>
          <a:p>
            <a:pPr marL="0" indent="0">
              <a:buNone/>
            </a:pPr>
            <a:r>
              <a:rPr lang="en-US" altLang="en-US" sz="1600"/>
              <a:t>3) Ash</a:t>
            </a:r>
            <a:endParaRPr lang="en-US" altLang="en-US" sz="1600"/>
          </a:p>
          <a:p>
            <a:pPr marL="0" indent="0">
              <a:buNone/>
            </a:pPr>
            <a:r>
              <a:rPr lang="en-US" altLang="en-US" sz="1600"/>
              <a:t>4) Alcalinity of ash  </a:t>
            </a:r>
            <a:endParaRPr lang="en-US" altLang="en-US" sz="1600"/>
          </a:p>
          <a:p>
            <a:pPr marL="0" indent="0">
              <a:buNone/>
            </a:pPr>
            <a:r>
              <a:rPr lang="en-US" altLang="en-US" sz="1600"/>
              <a:t>5) Magnesium</a:t>
            </a:r>
            <a:endParaRPr lang="en-US" altLang="en-US" sz="1600"/>
          </a:p>
          <a:p>
            <a:pPr marL="0" indent="0">
              <a:buNone/>
            </a:pPr>
            <a:r>
              <a:rPr lang="en-US" altLang="en-US" sz="1600"/>
              <a:t>6) Total phenols</a:t>
            </a:r>
            <a:endParaRPr lang="en-US" altLang="en-US" sz="1600"/>
          </a:p>
          <a:p>
            <a:pPr marL="0" indent="0">
              <a:buNone/>
            </a:pPr>
            <a:r>
              <a:rPr lang="en-US" altLang="en-US" sz="1600"/>
              <a:t>7) Flavanoids (antioxidents, bitterness and astrigency of wine)</a:t>
            </a:r>
            <a:endParaRPr lang="en-US" altLang="en-US" sz="1600"/>
          </a:p>
          <a:p>
            <a:pPr marL="0" indent="0">
              <a:buNone/>
            </a:pPr>
            <a:r>
              <a:rPr lang="en-US" altLang="en-US" sz="1600"/>
              <a:t>8) Nonflavanoid phenols (mostly derived from oak barrels the wine is stored in)</a:t>
            </a:r>
            <a:endParaRPr lang="en-US" altLang="en-US" sz="1600"/>
          </a:p>
          <a:p>
            <a:pPr marL="0" indent="0">
              <a:buNone/>
            </a:pPr>
            <a:r>
              <a:rPr lang="en-US" altLang="en-US" sz="1600"/>
              <a:t>9) Proanthocyanins (responsible for colour change during aging, aroma, flavour, mouth-feel)</a:t>
            </a:r>
            <a:endParaRPr lang="en-US" altLang="en-US" sz="1600"/>
          </a:p>
          <a:p>
            <a:pPr marL="0" indent="0">
              <a:buNone/>
            </a:pPr>
            <a:r>
              <a:rPr lang="en-US" altLang="en-US" sz="1600"/>
              <a:t>10)Color intensity</a:t>
            </a:r>
            <a:endParaRPr lang="en-US" altLang="en-US" sz="1600"/>
          </a:p>
          <a:p>
            <a:pPr marL="0" indent="0">
              <a:buNone/>
            </a:pPr>
            <a:r>
              <a:rPr lang="en-US" altLang="en-US" sz="1600"/>
              <a:t>11)Hue</a:t>
            </a:r>
            <a:endParaRPr lang="en-US" altLang="en-US" sz="1600"/>
          </a:p>
          <a:p>
            <a:pPr marL="0" indent="0">
              <a:buNone/>
            </a:pPr>
            <a:r>
              <a:rPr lang="en-US" altLang="en-US" sz="1600"/>
              <a:t>12)OD280/OD315 of diluted wines (Higher concentration, makes wine more bitter, but there is more protein)</a:t>
            </a:r>
            <a:endParaRPr lang="en-US" altLang="en-US" sz="1600"/>
          </a:p>
          <a:p>
            <a:pPr marL="0" indent="0">
              <a:buNone/>
            </a:pPr>
            <a:r>
              <a:rPr lang="en-US" altLang="en-US" sz="1600"/>
              <a:t>13)Proline (affects viscosity, sweetness and flavour. It intensifies after taste, but elevated levels reduces wine quality.)</a:t>
            </a:r>
            <a:endParaRPr lang="en-US" alt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Background Research</a:t>
            </a:r>
            <a:endParaRPr lang="en-US"/>
          </a:p>
        </p:txBody>
      </p:sp>
      <p:pic>
        <p:nvPicPr>
          <p:cNvPr id="4" name="Content Placeholder 3"/>
          <p:cNvPicPr>
            <a:picLocks noChangeAspect="1"/>
          </p:cNvPicPr>
          <p:nvPr>
            <p:ph idx="1"/>
          </p:nvPr>
        </p:nvPicPr>
        <p:blipFill>
          <a:blip r:embed="rId1"/>
          <a:stretch>
            <a:fillRect/>
          </a:stretch>
        </p:blipFill>
        <p:spPr>
          <a:xfrm>
            <a:off x="3368675" y="988060"/>
            <a:ext cx="4822825" cy="55568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a:t>
            </a:r>
            <a:endParaRPr lang="en-US"/>
          </a:p>
        </p:txBody>
      </p:sp>
      <p:pic>
        <p:nvPicPr>
          <p:cNvPr id="5" name="Content Placeholder 4"/>
          <p:cNvPicPr>
            <a:picLocks noChangeAspect="1"/>
          </p:cNvPicPr>
          <p:nvPr>
            <p:ph idx="1"/>
          </p:nvPr>
        </p:nvPicPr>
        <p:blipFill>
          <a:blip r:embed="rId1"/>
          <a:stretch>
            <a:fillRect/>
          </a:stretch>
        </p:blipFill>
        <p:spPr>
          <a:xfrm>
            <a:off x="1001395" y="1252220"/>
            <a:ext cx="3686175" cy="43529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a:t>
            </a:r>
            <a:endParaRPr lang="en-US"/>
          </a:p>
        </p:txBody>
      </p:sp>
      <p:pic>
        <p:nvPicPr>
          <p:cNvPr id="4" name="Content Placeholder 3"/>
          <p:cNvPicPr>
            <a:picLocks noChangeAspect="1"/>
          </p:cNvPicPr>
          <p:nvPr>
            <p:ph idx="1"/>
          </p:nvPr>
        </p:nvPicPr>
        <p:blipFill>
          <a:blip r:embed="rId1"/>
          <a:stretch>
            <a:fillRect/>
          </a:stretch>
        </p:blipFill>
        <p:spPr>
          <a:xfrm>
            <a:off x="609600" y="991235"/>
            <a:ext cx="7705725" cy="3790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a:t>
            </a:r>
            <a:endParaRPr lang="en-US"/>
          </a:p>
        </p:txBody>
      </p:sp>
      <p:pic>
        <p:nvPicPr>
          <p:cNvPr id="4" name="Content Placeholder 3"/>
          <p:cNvPicPr>
            <a:picLocks noChangeAspect="1"/>
          </p:cNvPicPr>
          <p:nvPr>
            <p:ph idx="1"/>
          </p:nvPr>
        </p:nvPicPr>
        <p:blipFill>
          <a:blip r:embed="rId1"/>
          <a:stretch>
            <a:fillRect/>
          </a:stretch>
        </p:blipFill>
        <p:spPr>
          <a:xfrm>
            <a:off x="609600" y="1029970"/>
            <a:ext cx="3038475" cy="2524125"/>
          </a:xfrm>
          <a:prstGeom prst="rect">
            <a:avLst/>
          </a:prstGeom>
        </p:spPr>
      </p:pic>
      <p:pic>
        <p:nvPicPr>
          <p:cNvPr id="6" name="Picture 5"/>
          <p:cNvPicPr>
            <a:picLocks noChangeAspect="1"/>
          </p:cNvPicPr>
          <p:nvPr/>
        </p:nvPicPr>
        <p:blipFill>
          <a:blip r:embed="rId2"/>
          <a:stretch>
            <a:fillRect/>
          </a:stretch>
        </p:blipFill>
        <p:spPr>
          <a:xfrm>
            <a:off x="3907790" y="1029970"/>
            <a:ext cx="7200900" cy="5124450"/>
          </a:xfrm>
          <a:prstGeom prst="rect">
            <a:avLst/>
          </a:prstGeom>
        </p:spPr>
      </p:pic>
      <p:pic>
        <p:nvPicPr>
          <p:cNvPr id="7" name="Picture 6"/>
          <p:cNvPicPr>
            <a:picLocks noChangeAspect="1"/>
          </p:cNvPicPr>
          <p:nvPr/>
        </p:nvPicPr>
        <p:blipFill>
          <a:blip r:embed="rId3"/>
          <a:stretch>
            <a:fillRect/>
          </a:stretch>
        </p:blipFill>
        <p:spPr>
          <a:xfrm>
            <a:off x="3907790" y="829945"/>
            <a:ext cx="7372350" cy="200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Start of code</a:t>
            </a:r>
            <a:endParaRPr lang="en-US"/>
          </a:p>
        </p:txBody>
      </p:sp>
      <p:pic>
        <p:nvPicPr>
          <p:cNvPr id="5" name="Picture 4"/>
          <p:cNvPicPr>
            <a:picLocks noChangeAspect="1"/>
          </p:cNvPicPr>
          <p:nvPr/>
        </p:nvPicPr>
        <p:blipFill>
          <a:blip r:embed="rId1"/>
          <a:stretch>
            <a:fillRect/>
          </a:stretch>
        </p:blipFill>
        <p:spPr>
          <a:xfrm>
            <a:off x="938530" y="4156710"/>
            <a:ext cx="6067425" cy="819150"/>
          </a:xfrm>
          <a:prstGeom prst="rect">
            <a:avLst/>
          </a:prstGeom>
        </p:spPr>
      </p:pic>
      <p:pic>
        <p:nvPicPr>
          <p:cNvPr id="7" name="Content Placeholder 6"/>
          <p:cNvPicPr>
            <a:picLocks noChangeAspect="1"/>
          </p:cNvPicPr>
          <p:nvPr>
            <p:ph idx="1"/>
          </p:nvPr>
        </p:nvPicPr>
        <p:blipFill>
          <a:blip r:embed="rId2"/>
          <a:stretch>
            <a:fillRect/>
          </a:stretch>
        </p:blipFill>
        <p:spPr>
          <a:xfrm>
            <a:off x="938530" y="1088390"/>
            <a:ext cx="5200650" cy="2752725"/>
          </a:xfrm>
          <a:prstGeom prst="rect">
            <a:avLst/>
          </a:prstGeom>
        </p:spPr>
      </p:pic>
      <p:pic>
        <p:nvPicPr>
          <p:cNvPr id="8" name="Picture 7"/>
          <p:cNvPicPr>
            <a:picLocks noChangeAspect="1"/>
          </p:cNvPicPr>
          <p:nvPr/>
        </p:nvPicPr>
        <p:blipFill>
          <a:blip r:embed="rId3"/>
          <a:stretch>
            <a:fillRect/>
          </a:stretch>
        </p:blipFill>
        <p:spPr>
          <a:xfrm>
            <a:off x="938530" y="5189220"/>
            <a:ext cx="2924175" cy="6191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Data Exploration (with a different method)</a:t>
            </a:r>
            <a:endParaRPr lang="en-US"/>
          </a:p>
        </p:txBody>
      </p:sp>
      <p:pic>
        <p:nvPicPr>
          <p:cNvPr id="4" name="Content Placeholder 3"/>
          <p:cNvPicPr>
            <a:picLocks noChangeAspect="1"/>
          </p:cNvPicPr>
          <p:nvPr>
            <p:ph idx="1"/>
          </p:nvPr>
        </p:nvPicPr>
        <p:blipFill>
          <a:blip r:embed="rId1"/>
          <a:stretch>
            <a:fillRect/>
          </a:stretch>
        </p:blipFill>
        <p:spPr>
          <a:xfrm>
            <a:off x="609600" y="1235710"/>
            <a:ext cx="6762750" cy="1952625"/>
          </a:xfrm>
          <a:prstGeom prst="rect">
            <a:avLst/>
          </a:prstGeom>
        </p:spPr>
      </p:pic>
      <p:pic>
        <p:nvPicPr>
          <p:cNvPr id="7" name="Picture 6"/>
          <p:cNvPicPr>
            <a:picLocks noChangeAspect="1"/>
          </p:cNvPicPr>
          <p:nvPr/>
        </p:nvPicPr>
        <p:blipFill>
          <a:blip r:embed="rId2"/>
          <a:stretch>
            <a:fillRect/>
          </a:stretch>
        </p:blipFill>
        <p:spPr>
          <a:xfrm>
            <a:off x="609600" y="4276725"/>
            <a:ext cx="7372350" cy="200025"/>
          </a:xfrm>
          <a:prstGeom prst="rect">
            <a:avLst/>
          </a:prstGeom>
        </p:spPr>
      </p:pic>
      <p:sp>
        <p:nvSpPr>
          <p:cNvPr id="5" name="Text Box 4"/>
          <p:cNvSpPr txBox="1"/>
          <p:nvPr/>
        </p:nvSpPr>
        <p:spPr>
          <a:xfrm>
            <a:off x="609600" y="3739515"/>
            <a:ext cx="4064000" cy="368300"/>
          </a:xfrm>
          <a:prstGeom prst="rect">
            <a:avLst/>
          </a:prstGeom>
          <a:noFill/>
        </p:spPr>
        <p:txBody>
          <a:bodyPr wrap="square" rtlCol="0">
            <a:spAutoFit/>
          </a:bodyPr>
          <a:p>
            <a:r>
              <a:rPr lang="en-US">
                <a:solidFill>
                  <a:srgbClr val="FF0000"/>
                </a:solidFill>
              </a:rPr>
              <a:t>Different from PCA rankings?!</a:t>
            </a:r>
            <a:endParaRPr lang="en-US">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Elbow method</a:t>
            </a:r>
            <a:endParaRPr lang="en-US"/>
          </a:p>
        </p:txBody>
      </p:sp>
      <p:pic>
        <p:nvPicPr>
          <p:cNvPr id="4" name="Content Placeholder 3"/>
          <p:cNvPicPr>
            <a:picLocks noChangeAspect="1"/>
          </p:cNvPicPr>
          <p:nvPr>
            <p:ph idx="1"/>
          </p:nvPr>
        </p:nvPicPr>
        <p:blipFill>
          <a:blip r:embed="rId1"/>
          <a:stretch>
            <a:fillRect/>
          </a:stretch>
        </p:blipFill>
        <p:spPr>
          <a:xfrm>
            <a:off x="609600" y="1043305"/>
            <a:ext cx="5400675" cy="2657475"/>
          </a:xfrm>
          <a:prstGeom prst="rect">
            <a:avLst/>
          </a:prstGeom>
        </p:spPr>
      </p:pic>
      <p:pic>
        <p:nvPicPr>
          <p:cNvPr id="5" name="Picture 4"/>
          <p:cNvPicPr>
            <a:picLocks noChangeAspect="1"/>
          </p:cNvPicPr>
          <p:nvPr/>
        </p:nvPicPr>
        <p:blipFill>
          <a:blip r:embed="rId2"/>
          <a:stretch>
            <a:fillRect/>
          </a:stretch>
        </p:blipFill>
        <p:spPr>
          <a:xfrm>
            <a:off x="6246495" y="1043305"/>
            <a:ext cx="4762500" cy="4752975"/>
          </a:xfrm>
          <a:prstGeom prst="rect">
            <a:avLst/>
          </a:prstGeom>
        </p:spPr>
      </p:pic>
      <p:cxnSp>
        <p:nvCxnSpPr>
          <p:cNvPr id="6" name="Straight Arrow Connector 5"/>
          <p:cNvCxnSpPr/>
          <p:nvPr/>
        </p:nvCxnSpPr>
        <p:spPr>
          <a:xfrm flipV="1">
            <a:off x="5503545" y="3926205"/>
            <a:ext cx="1830070" cy="1003935"/>
          </a:xfrm>
          <a:prstGeom prst="straightConnector1">
            <a:avLst/>
          </a:prstGeom>
          <a:ln w="76200">
            <a:solidFill>
              <a:srgbClr val="FF0000"/>
            </a:solidFill>
            <a:headEnd type="none" w="med" len="med"/>
            <a:tailEnd type="arrow" w="med" len="med"/>
          </a:ln>
        </p:spPr>
        <p:style>
          <a:lnRef idx="3">
            <a:schemeClr val="accent1"/>
          </a:lnRef>
          <a:fillRef idx="0">
            <a:srgbClr val="FFFFFF"/>
          </a:fillRef>
          <a:effectRef idx="0">
            <a:srgbClr val="FFFFFF"/>
          </a:effectRef>
          <a:fontRef idx="minor">
            <a:schemeClr val="tx1"/>
          </a:fontRef>
        </p:style>
      </p:cxnSp>
      <p:sp>
        <p:nvSpPr>
          <p:cNvPr id="7" name="Text Box 6"/>
          <p:cNvSpPr txBox="1"/>
          <p:nvPr/>
        </p:nvSpPr>
        <p:spPr>
          <a:xfrm>
            <a:off x="2732405" y="4982845"/>
            <a:ext cx="4064000" cy="368300"/>
          </a:xfrm>
          <a:prstGeom prst="rect">
            <a:avLst/>
          </a:prstGeom>
          <a:noFill/>
        </p:spPr>
        <p:txBody>
          <a:bodyPr wrap="square" rtlCol="0">
            <a:spAutoFit/>
          </a:bodyPr>
          <a:p>
            <a:r>
              <a:rPr lang="en-US"/>
              <a:t>Sharpest decline is when </a:t>
            </a:r>
            <a:r>
              <a:rPr lang="en-US" b="1"/>
              <a:t>k = 3</a:t>
            </a:r>
            <a:endParaRPr lang="en-US" b="1"/>
          </a:p>
        </p:txBody>
      </p:sp>
      <p:pic>
        <p:nvPicPr>
          <p:cNvPr id="8" name="Picture 7"/>
          <p:cNvPicPr>
            <a:picLocks noChangeAspect="1"/>
          </p:cNvPicPr>
          <p:nvPr/>
        </p:nvPicPr>
        <p:blipFill>
          <a:blip r:embed="rId3"/>
          <a:stretch>
            <a:fillRect/>
          </a:stretch>
        </p:blipFill>
        <p:spPr>
          <a:xfrm>
            <a:off x="2240915" y="5680710"/>
            <a:ext cx="1971675" cy="1047750"/>
          </a:xfrm>
          <a:prstGeom prst="rect">
            <a:avLst/>
          </a:prstGeom>
        </p:spPr>
      </p:pic>
      <p:sp>
        <p:nvSpPr>
          <p:cNvPr id="9" name="Text Box 8"/>
          <p:cNvSpPr txBox="1"/>
          <p:nvPr/>
        </p:nvSpPr>
        <p:spPr>
          <a:xfrm>
            <a:off x="4212590" y="6083300"/>
            <a:ext cx="4064000" cy="645160"/>
          </a:xfrm>
          <a:prstGeom prst="rect">
            <a:avLst/>
          </a:prstGeom>
          <a:noFill/>
        </p:spPr>
        <p:txBody>
          <a:bodyPr wrap="square" rtlCol="0">
            <a:spAutoFit/>
          </a:bodyPr>
          <a:p>
            <a:r>
              <a:rPr lang="en-US"/>
              <a:t>Post edit: coincidentally the same as in the data description.</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Silhouette Score</a:t>
            </a:r>
            <a:endParaRPr lang="en-US"/>
          </a:p>
        </p:txBody>
      </p:sp>
      <p:pic>
        <p:nvPicPr>
          <p:cNvPr id="4" name="Content Placeholder 3"/>
          <p:cNvPicPr>
            <a:picLocks noChangeAspect="1"/>
          </p:cNvPicPr>
          <p:nvPr>
            <p:ph idx="1"/>
          </p:nvPr>
        </p:nvPicPr>
        <p:blipFill>
          <a:blip r:embed="rId1"/>
          <a:stretch>
            <a:fillRect/>
          </a:stretch>
        </p:blipFill>
        <p:spPr>
          <a:xfrm>
            <a:off x="675640" y="1038225"/>
            <a:ext cx="4762500" cy="4781550"/>
          </a:xfrm>
          <a:prstGeom prst="rect">
            <a:avLst/>
          </a:prstGeom>
        </p:spPr>
      </p:pic>
      <p:cxnSp>
        <p:nvCxnSpPr>
          <p:cNvPr id="6" name="Straight Arrow Connector 5"/>
          <p:cNvCxnSpPr/>
          <p:nvPr/>
        </p:nvCxnSpPr>
        <p:spPr>
          <a:xfrm flipH="1">
            <a:off x="1985010" y="2797810"/>
            <a:ext cx="3822065" cy="10160"/>
          </a:xfrm>
          <a:prstGeom prst="straightConnector1">
            <a:avLst/>
          </a:prstGeom>
          <a:ln w="76200">
            <a:solidFill>
              <a:srgbClr val="FF0000"/>
            </a:solidFill>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7" name="Straight Connector 6"/>
          <p:cNvCxnSpPr/>
          <p:nvPr/>
        </p:nvCxnSpPr>
        <p:spPr>
          <a:xfrm>
            <a:off x="1805940" y="2912110"/>
            <a:ext cx="10160" cy="2466975"/>
          </a:xfrm>
          <a:prstGeom prst="line">
            <a:avLst/>
          </a:prstGeom>
          <a:ln w="6350" cap="flat" cmpd="sng" algn="ctr">
            <a:solidFill>
              <a:srgbClr val="FF0000"/>
            </a:solidFill>
            <a:prstDash val="dash"/>
            <a:miter lim="800000"/>
            <a:headEnd type="none" w="med" len="med"/>
            <a:tailEnd type="none" w="med" len="med"/>
          </a:ln>
        </p:spPr>
        <p:style>
          <a:lnRef idx="0">
            <a:schemeClr val="accent1"/>
          </a:lnRef>
          <a:fillRef idx="0">
            <a:srgbClr val="FFFFFF"/>
          </a:fillRef>
          <a:effectRef idx="0">
            <a:srgbClr val="FFFFFF"/>
          </a:effectRef>
          <a:fontRef idx="minor">
            <a:schemeClr val="tx1"/>
          </a:fontRef>
        </p:style>
      </p:cxnSp>
      <p:sp>
        <p:nvSpPr>
          <p:cNvPr id="8" name="Text Box 7"/>
          <p:cNvSpPr txBox="1"/>
          <p:nvPr/>
        </p:nvSpPr>
        <p:spPr>
          <a:xfrm>
            <a:off x="5916930" y="2618740"/>
            <a:ext cx="4064000" cy="1198880"/>
          </a:xfrm>
          <a:prstGeom prst="rect">
            <a:avLst/>
          </a:prstGeom>
          <a:noFill/>
        </p:spPr>
        <p:txBody>
          <a:bodyPr wrap="square" rtlCol="0">
            <a:spAutoFit/>
          </a:bodyPr>
          <a:p>
            <a:r>
              <a:rPr lang="en-US"/>
              <a:t>Highest silhouette score is also when k = 3. </a:t>
            </a:r>
            <a:endParaRPr lang="en-US"/>
          </a:p>
          <a:p>
            <a:endParaRPr lang="en-US"/>
          </a:p>
          <a:p>
            <a:r>
              <a:rPr lang="en-US"/>
              <a:t>Confirming k should be 3.</a:t>
            </a:r>
            <a:endParaRPr lang="en-US"/>
          </a:p>
        </p:txBody>
      </p:sp>
      <p:pic>
        <p:nvPicPr>
          <p:cNvPr id="9" name="Picture 8"/>
          <p:cNvPicPr>
            <a:picLocks noChangeAspect="1"/>
          </p:cNvPicPr>
          <p:nvPr/>
        </p:nvPicPr>
        <p:blipFill>
          <a:blip r:embed="rId2"/>
          <a:stretch>
            <a:fillRect/>
          </a:stretch>
        </p:blipFill>
        <p:spPr>
          <a:xfrm>
            <a:off x="675640" y="5879465"/>
            <a:ext cx="4657725" cy="838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Clustering Methods</a:t>
            </a:r>
            <a:endParaRPr lang="en-US"/>
          </a:p>
        </p:txBody>
      </p:sp>
      <p:pic>
        <p:nvPicPr>
          <p:cNvPr id="4" name="Content Placeholder 3"/>
          <p:cNvPicPr>
            <a:picLocks noChangeAspect="1"/>
          </p:cNvPicPr>
          <p:nvPr>
            <p:ph idx="1"/>
          </p:nvPr>
        </p:nvPicPr>
        <p:blipFill>
          <a:blip r:embed="rId1"/>
          <a:stretch>
            <a:fillRect/>
          </a:stretch>
        </p:blipFill>
        <p:spPr>
          <a:xfrm>
            <a:off x="609600" y="989330"/>
            <a:ext cx="3933825" cy="638175"/>
          </a:xfrm>
          <a:prstGeom prst="rect">
            <a:avLst/>
          </a:prstGeom>
        </p:spPr>
      </p:pic>
      <p:pic>
        <p:nvPicPr>
          <p:cNvPr id="5" name="Picture 4"/>
          <p:cNvPicPr>
            <a:picLocks noChangeAspect="1"/>
          </p:cNvPicPr>
          <p:nvPr/>
        </p:nvPicPr>
        <p:blipFill>
          <a:blip r:embed="rId2"/>
          <a:stretch>
            <a:fillRect/>
          </a:stretch>
        </p:blipFill>
        <p:spPr>
          <a:xfrm>
            <a:off x="609600" y="1627505"/>
            <a:ext cx="4200525" cy="781050"/>
          </a:xfrm>
          <a:prstGeom prst="rect">
            <a:avLst/>
          </a:prstGeom>
        </p:spPr>
      </p:pic>
      <p:pic>
        <p:nvPicPr>
          <p:cNvPr id="7" name="Picture 6"/>
          <p:cNvPicPr>
            <a:picLocks noChangeAspect="1"/>
          </p:cNvPicPr>
          <p:nvPr/>
        </p:nvPicPr>
        <p:blipFill>
          <a:blip r:embed="rId3"/>
          <a:stretch>
            <a:fillRect/>
          </a:stretch>
        </p:blipFill>
        <p:spPr>
          <a:xfrm>
            <a:off x="4931410" y="989330"/>
            <a:ext cx="7153275" cy="2095500"/>
          </a:xfrm>
          <a:prstGeom prst="rect">
            <a:avLst/>
          </a:prstGeom>
        </p:spPr>
      </p:pic>
      <p:pic>
        <p:nvPicPr>
          <p:cNvPr id="8" name="Picture 7"/>
          <p:cNvPicPr>
            <a:picLocks noChangeAspect="1"/>
          </p:cNvPicPr>
          <p:nvPr/>
        </p:nvPicPr>
        <p:blipFill>
          <a:blip r:embed="rId4"/>
          <a:stretch>
            <a:fillRect/>
          </a:stretch>
        </p:blipFill>
        <p:spPr>
          <a:xfrm>
            <a:off x="4931410" y="3084830"/>
            <a:ext cx="7153910" cy="2772410"/>
          </a:xfrm>
          <a:prstGeom prst="rect">
            <a:avLst/>
          </a:prstGeom>
        </p:spPr>
      </p:pic>
      <p:sp>
        <p:nvSpPr>
          <p:cNvPr id="10" name="Text Box 9"/>
          <p:cNvSpPr txBox="1"/>
          <p:nvPr/>
        </p:nvSpPr>
        <p:spPr>
          <a:xfrm>
            <a:off x="4931410" y="5930265"/>
            <a:ext cx="7300595" cy="395605"/>
          </a:xfrm>
          <a:prstGeom prst="rect">
            <a:avLst/>
          </a:prstGeom>
          <a:noFill/>
        </p:spPr>
        <p:txBody>
          <a:bodyPr wrap="square" rtlCol="0">
            <a:noAutofit/>
          </a:bodyPr>
          <a:p>
            <a:r>
              <a:rPr lang="en-US" sz="1200"/>
              <a:t>Source: </a:t>
            </a:r>
            <a:r>
              <a:rPr lang="en-US" altLang="en-US" sz="1200"/>
              <a:t>https://scikit-learn.org/stable/modules/clustering.html#silhouette%02coefficient%20,</a:t>
            </a:r>
            <a:endParaRPr lang="en-US" altLang="en-US" sz="1200"/>
          </a:p>
        </p:txBody>
      </p:sp>
      <p:pic>
        <p:nvPicPr>
          <p:cNvPr id="12" name="Picture 11"/>
          <p:cNvPicPr>
            <a:picLocks noChangeAspect="1"/>
          </p:cNvPicPr>
          <p:nvPr/>
        </p:nvPicPr>
        <p:blipFill>
          <a:blip r:embed="rId5"/>
          <a:stretch>
            <a:fillRect/>
          </a:stretch>
        </p:blipFill>
        <p:spPr>
          <a:xfrm>
            <a:off x="609600" y="2443480"/>
            <a:ext cx="4021455" cy="3996690"/>
          </a:xfrm>
          <a:prstGeom prst="rect">
            <a:avLst/>
          </a:prstGeom>
        </p:spPr>
      </p:pic>
      <p:pic>
        <p:nvPicPr>
          <p:cNvPr id="13" name="Picture 12"/>
          <p:cNvPicPr>
            <a:picLocks noChangeAspect="1"/>
          </p:cNvPicPr>
          <p:nvPr/>
        </p:nvPicPr>
        <p:blipFill>
          <a:blip r:embed="rId6"/>
          <a:stretch>
            <a:fillRect/>
          </a:stretch>
        </p:blipFill>
        <p:spPr>
          <a:xfrm>
            <a:off x="4810125" y="6200140"/>
            <a:ext cx="6457950" cy="571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7560945" y="3467100"/>
            <a:ext cx="4552950" cy="3295650"/>
          </a:xfrm>
          <a:prstGeom prst="rect">
            <a:avLst/>
          </a:prstGeom>
        </p:spPr>
      </p:pic>
      <p:sp>
        <p:nvSpPr>
          <p:cNvPr id="2" name="Title 1"/>
          <p:cNvSpPr>
            <a:spLocks noGrp="1"/>
          </p:cNvSpPr>
          <p:nvPr>
            <p:ph type="title"/>
          </p:nvPr>
        </p:nvSpPr>
        <p:spPr/>
        <p:txBody>
          <a:bodyPr/>
          <a:p>
            <a:r>
              <a:rPr lang="en-US"/>
              <a:t>Evaluation Metrics</a:t>
            </a:r>
            <a:endParaRPr lang="en-US"/>
          </a:p>
        </p:txBody>
      </p:sp>
      <p:pic>
        <p:nvPicPr>
          <p:cNvPr id="4" name="Content Placeholder 3"/>
          <p:cNvPicPr>
            <a:picLocks noChangeAspect="1"/>
          </p:cNvPicPr>
          <p:nvPr>
            <p:ph idx="1"/>
          </p:nvPr>
        </p:nvPicPr>
        <p:blipFill>
          <a:blip r:embed="rId2"/>
          <a:stretch>
            <a:fillRect/>
          </a:stretch>
        </p:blipFill>
        <p:spPr>
          <a:xfrm>
            <a:off x="609600" y="841375"/>
            <a:ext cx="7905750" cy="1924050"/>
          </a:xfrm>
          <a:prstGeom prst="rect">
            <a:avLst/>
          </a:prstGeom>
        </p:spPr>
      </p:pic>
      <p:pic>
        <p:nvPicPr>
          <p:cNvPr id="5" name="Picture 4"/>
          <p:cNvPicPr>
            <a:picLocks noChangeAspect="1"/>
          </p:cNvPicPr>
          <p:nvPr/>
        </p:nvPicPr>
        <p:blipFill>
          <a:blip r:embed="rId3"/>
          <a:stretch>
            <a:fillRect/>
          </a:stretch>
        </p:blipFill>
        <p:spPr>
          <a:xfrm>
            <a:off x="609600" y="2917190"/>
            <a:ext cx="7267575" cy="1352550"/>
          </a:xfrm>
          <a:prstGeom prst="rect">
            <a:avLst/>
          </a:prstGeom>
        </p:spPr>
      </p:pic>
      <p:sp>
        <p:nvSpPr>
          <p:cNvPr id="7" name="Text Box 6"/>
          <p:cNvSpPr txBox="1"/>
          <p:nvPr/>
        </p:nvSpPr>
        <p:spPr>
          <a:xfrm>
            <a:off x="609600" y="6610350"/>
            <a:ext cx="6096000" cy="245110"/>
          </a:xfrm>
          <a:prstGeom prst="rect">
            <a:avLst/>
          </a:prstGeom>
          <a:noFill/>
        </p:spPr>
        <p:txBody>
          <a:bodyPr wrap="square" rtlCol="0" anchor="t">
            <a:spAutoFit/>
          </a:bodyPr>
          <a:p>
            <a:r>
              <a:rPr lang="en-US" altLang="en-US" sz="1000"/>
              <a:t>Source: https://www.geeksforgeeks.org/davies-bouldin-index/</a:t>
            </a:r>
            <a:endParaRPr lang="en-US" sz="1000"/>
          </a:p>
        </p:txBody>
      </p:sp>
      <p:sp>
        <p:nvSpPr>
          <p:cNvPr id="8" name="Text Box 7"/>
          <p:cNvSpPr txBox="1"/>
          <p:nvPr/>
        </p:nvSpPr>
        <p:spPr>
          <a:xfrm>
            <a:off x="609600" y="4303395"/>
            <a:ext cx="6565900" cy="2306955"/>
          </a:xfrm>
          <a:prstGeom prst="rect">
            <a:avLst/>
          </a:prstGeom>
          <a:noFill/>
        </p:spPr>
        <p:txBody>
          <a:bodyPr wrap="square" rtlCol="0">
            <a:spAutoFit/>
          </a:bodyPr>
          <a:p>
            <a:r>
              <a:rPr lang="en-US"/>
              <a:t>Used Davies- Bouldin Index to evaluate the clustering models.</a:t>
            </a:r>
            <a:endParaRPr lang="en-US"/>
          </a:p>
          <a:p>
            <a:endParaRPr lang="en-US"/>
          </a:p>
          <a:p>
            <a:r>
              <a:rPr lang="en-US"/>
              <a:t>In essence: Lower index </a:t>
            </a:r>
            <a:r>
              <a:rPr lang="en-US" altLang="en-US"/>
              <a:t>indicates that the clusters are well-separated and compact, which is often a good indication of a successful clustering solution. </a:t>
            </a:r>
            <a:br>
              <a:rPr lang="en-US" altLang="en-US"/>
            </a:br>
            <a:endParaRPr lang="en-US" altLang="en-US"/>
          </a:p>
          <a:p>
            <a:r>
              <a:rPr lang="en-US" altLang="en-US"/>
              <a:t>Between K-Means and Agglo, </a:t>
            </a:r>
            <a:endParaRPr lang="en-US" altLang="en-US"/>
          </a:p>
          <a:p>
            <a:r>
              <a:rPr lang="en-US" altLang="en-US" b="1"/>
              <a:t>K-means </a:t>
            </a:r>
            <a:r>
              <a:rPr lang="en-US" altLang="en-US"/>
              <a:t>is the lower of the two in this scenario.</a:t>
            </a:r>
            <a:endParaRPr lang="en-US" altLang="en-US"/>
          </a:p>
        </p:txBody>
      </p:sp>
      <p:cxnSp>
        <p:nvCxnSpPr>
          <p:cNvPr id="9" name="Straight Arrow Connector 8"/>
          <p:cNvCxnSpPr/>
          <p:nvPr/>
        </p:nvCxnSpPr>
        <p:spPr>
          <a:xfrm flipH="1">
            <a:off x="4351020" y="2115185"/>
            <a:ext cx="3822065" cy="10160"/>
          </a:xfrm>
          <a:prstGeom prst="straightConnector1">
            <a:avLst/>
          </a:prstGeom>
          <a:ln w="76200">
            <a:solidFill>
              <a:srgbClr val="FF0000"/>
            </a:solidFill>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10" name="Straight Arrow Connector 9"/>
          <p:cNvCxnSpPr/>
          <p:nvPr/>
        </p:nvCxnSpPr>
        <p:spPr>
          <a:xfrm flipH="1">
            <a:off x="4351020" y="2494915"/>
            <a:ext cx="3822065" cy="10160"/>
          </a:xfrm>
          <a:prstGeom prst="straightConnector1">
            <a:avLst/>
          </a:prstGeom>
          <a:ln w="76200">
            <a:solidFill>
              <a:srgbClr val="FF0000"/>
            </a:solidFill>
            <a:headEnd type="none" w="med" len="med"/>
            <a:tailEnd type="arrow" w="med" len="med"/>
          </a:ln>
        </p:spPr>
        <p:style>
          <a:lnRef idx="3">
            <a:schemeClr val="accent1"/>
          </a:lnRef>
          <a:fillRef idx="0">
            <a:srgbClr val="FFFFFF"/>
          </a:fillRef>
          <a:effectRef idx="0">
            <a:srgbClr val="FFFFFF"/>
          </a:effectRef>
          <a:fontRef idx="minor">
            <a:schemeClr val="tx1"/>
          </a:fontRef>
        </p:style>
      </p:cxnSp>
      <p:sp>
        <p:nvSpPr>
          <p:cNvPr id="11" name="Text Box 10"/>
          <p:cNvSpPr txBox="1"/>
          <p:nvPr/>
        </p:nvSpPr>
        <p:spPr>
          <a:xfrm>
            <a:off x="8634730" y="841375"/>
            <a:ext cx="3409315" cy="457200"/>
          </a:xfrm>
          <a:prstGeom prst="rect">
            <a:avLst/>
          </a:prstGeom>
          <a:noFill/>
        </p:spPr>
        <p:txBody>
          <a:bodyPr wrap="square" rtlCol="0">
            <a:noAutofit/>
          </a:bodyPr>
          <a:p>
            <a:r>
              <a:rPr lang="en-US"/>
              <a:t>In terms of silhouette score, the higher silhouette score means that the model is better.</a:t>
            </a:r>
            <a:endParaRPr lang="en-US"/>
          </a:p>
          <a:p>
            <a:endParaRPr lang="en-US" altLang="en-US"/>
          </a:p>
          <a:p>
            <a:r>
              <a:rPr lang="en-US" b="1">
                <a:sym typeface="+mn-ea"/>
              </a:rPr>
              <a:t>K-means</a:t>
            </a:r>
            <a:r>
              <a:rPr lang="en-US">
                <a:sym typeface="+mn-ea"/>
              </a:rPr>
              <a:t> is the higher of the two.</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Scatter plot to better show the features (1)</a:t>
            </a:r>
            <a:endParaRPr lang="en-US"/>
          </a:p>
        </p:txBody>
      </p:sp>
      <p:pic>
        <p:nvPicPr>
          <p:cNvPr id="4" name="Content Placeholder 3"/>
          <p:cNvPicPr>
            <a:picLocks noChangeAspect="1"/>
          </p:cNvPicPr>
          <p:nvPr>
            <p:ph idx="1"/>
          </p:nvPr>
        </p:nvPicPr>
        <p:blipFill>
          <a:blip r:embed="rId1"/>
          <a:stretch>
            <a:fillRect/>
          </a:stretch>
        </p:blipFill>
        <p:spPr>
          <a:xfrm>
            <a:off x="609600" y="1033145"/>
            <a:ext cx="7296150" cy="390525"/>
          </a:xfrm>
          <a:prstGeom prst="rect">
            <a:avLst/>
          </a:prstGeom>
        </p:spPr>
      </p:pic>
      <p:pic>
        <p:nvPicPr>
          <p:cNvPr id="5" name="Picture 4"/>
          <p:cNvPicPr>
            <a:picLocks noChangeAspect="1"/>
          </p:cNvPicPr>
          <p:nvPr/>
        </p:nvPicPr>
        <p:blipFill>
          <a:blip r:embed="rId2"/>
          <a:stretch>
            <a:fillRect/>
          </a:stretch>
        </p:blipFill>
        <p:spPr>
          <a:xfrm>
            <a:off x="609600" y="1776095"/>
            <a:ext cx="8410575" cy="3305175"/>
          </a:xfrm>
          <a:prstGeom prst="rect">
            <a:avLst/>
          </a:prstGeom>
        </p:spPr>
      </p:pic>
      <p:pic>
        <p:nvPicPr>
          <p:cNvPr id="6" name="Picture 5"/>
          <p:cNvPicPr>
            <a:picLocks noChangeAspect="1"/>
          </p:cNvPicPr>
          <p:nvPr/>
        </p:nvPicPr>
        <p:blipFill>
          <a:blip r:embed="rId3"/>
          <a:stretch>
            <a:fillRect/>
          </a:stretch>
        </p:blipFill>
        <p:spPr>
          <a:xfrm>
            <a:off x="958215" y="5081270"/>
            <a:ext cx="7991475" cy="276225"/>
          </a:xfrm>
          <a:prstGeom prst="rect">
            <a:avLst/>
          </a:prstGeom>
        </p:spPr>
      </p:pic>
      <p:pic>
        <p:nvPicPr>
          <p:cNvPr id="7" name="Picture 6"/>
          <p:cNvPicPr>
            <a:picLocks noChangeAspect="1"/>
          </p:cNvPicPr>
          <p:nvPr/>
        </p:nvPicPr>
        <p:blipFill>
          <a:blip r:embed="rId4"/>
          <a:stretch>
            <a:fillRect/>
          </a:stretch>
        </p:blipFill>
        <p:spPr>
          <a:xfrm>
            <a:off x="9220835" y="1776095"/>
            <a:ext cx="1256030" cy="10661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Scatter plot to better show the features (2)</a:t>
            </a:r>
            <a:endParaRPr lang="en-US"/>
          </a:p>
        </p:txBody>
      </p:sp>
      <p:pic>
        <p:nvPicPr>
          <p:cNvPr id="4" name="Content Placeholder 3"/>
          <p:cNvPicPr>
            <a:picLocks noChangeAspect="1"/>
          </p:cNvPicPr>
          <p:nvPr>
            <p:ph idx="1"/>
          </p:nvPr>
        </p:nvPicPr>
        <p:blipFill>
          <a:blip r:embed="rId1"/>
          <a:stretch>
            <a:fillRect/>
          </a:stretch>
        </p:blipFill>
        <p:spPr>
          <a:xfrm>
            <a:off x="609600" y="1174750"/>
            <a:ext cx="8487410" cy="5313680"/>
          </a:xfrm>
          <a:prstGeom prst="rect">
            <a:avLst/>
          </a:prstGeom>
        </p:spPr>
      </p:pic>
      <p:pic>
        <p:nvPicPr>
          <p:cNvPr id="7" name="Picture 6"/>
          <p:cNvPicPr>
            <a:picLocks noChangeAspect="1"/>
          </p:cNvPicPr>
          <p:nvPr/>
        </p:nvPicPr>
        <p:blipFill>
          <a:blip r:embed="rId2"/>
          <a:stretch>
            <a:fillRect/>
          </a:stretch>
        </p:blipFill>
        <p:spPr>
          <a:xfrm>
            <a:off x="9220835" y="1776095"/>
            <a:ext cx="1256030" cy="10661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idx="1"/>
          </p:nvPr>
        </p:nvSpPr>
        <p:spPr/>
        <p:txBody>
          <a:bodyPr/>
          <a:p>
            <a:r>
              <a:rPr lang="en-US"/>
              <a:t>Using feature selection by means of random forest classifier, the top 5 more important features are:</a:t>
            </a:r>
            <a:endParaRPr lang="en-US"/>
          </a:p>
          <a:p>
            <a:pPr marL="0" indent="0">
              <a:buNone/>
            </a:pPr>
            <a:r>
              <a:rPr lang="en-US" altLang="en-US" sz="2400">
                <a:sym typeface="+mn-ea"/>
              </a:rPr>
              <a:t>- flavanoids </a:t>
            </a:r>
            <a:endParaRPr lang="en-US" altLang="en-US" sz="2400"/>
          </a:p>
          <a:p>
            <a:pPr marL="0" indent="0">
              <a:buNone/>
            </a:pPr>
            <a:r>
              <a:rPr lang="en-US" altLang="en-US" sz="2400">
                <a:sym typeface="+mn-ea"/>
              </a:rPr>
              <a:t>- color_intensity </a:t>
            </a:r>
            <a:endParaRPr lang="en-US" altLang="en-US" sz="2400"/>
          </a:p>
          <a:p>
            <a:pPr marL="0" indent="0">
              <a:buNone/>
            </a:pPr>
            <a:r>
              <a:rPr lang="en-US" altLang="en-US" sz="2400">
                <a:sym typeface="+mn-ea"/>
              </a:rPr>
              <a:t>- alcohol</a:t>
            </a:r>
            <a:endParaRPr lang="en-US" altLang="en-US" sz="2400"/>
          </a:p>
          <a:p>
            <a:pPr marL="0" indent="0">
              <a:buNone/>
            </a:pPr>
            <a:r>
              <a:rPr lang="en-US" altLang="en-US" sz="2400">
                <a:sym typeface="+mn-ea"/>
              </a:rPr>
              <a:t>- proline </a:t>
            </a:r>
            <a:endParaRPr lang="en-US" altLang="en-US" sz="2400"/>
          </a:p>
          <a:p>
            <a:pPr marL="0" indent="0">
              <a:buNone/>
            </a:pPr>
            <a:r>
              <a:rPr lang="en-US" altLang="en-US" sz="2400">
                <a:sym typeface="+mn-ea"/>
              </a:rPr>
              <a:t>- od280/od315_of_diluted_wines</a:t>
            </a:r>
            <a:endParaRPr lang="en-US" sz="2400"/>
          </a:p>
          <a:p>
            <a:r>
              <a:rPr lang="en-US"/>
              <a:t>Out of the two clustering methods chosen, K-means is the better of the two for having a higher silhouette score and a lower </a:t>
            </a:r>
            <a:r>
              <a:rPr lang="en-US">
                <a:sym typeface="+mn-ea"/>
              </a:rPr>
              <a:t>Davies- Bouldin Index.</a:t>
            </a:r>
            <a:endParaRPr lang="en-US"/>
          </a:p>
          <a:p>
            <a:pPr marL="0" indent="0">
              <a:buNone/>
            </a:pP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Sources</a:t>
            </a:r>
            <a:endParaRPr lang="en-US"/>
          </a:p>
        </p:txBody>
      </p:sp>
      <p:sp>
        <p:nvSpPr>
          <p:cNvPr id="3" name="Content Placeholder 2"/>
          <p:cNvSpPr>
            <a:spLocks noGrp="1"/>
          </p:cNvSpPr>
          <p:nvPr>
            <p:ph idx="1"/>
          </p:nvPr>
        </p:nvSpPr>
        <p:spPr/>
        <p:txBody>
          <a:bodyPr/>
          <a:p>
            <a:r>
              <a:rPr lang="en-US" altLang="en-US" sz="1800"/>
              <a:t>https://archive.ics.uci.edu/dataset/109/wine</a:t>
            </a:r>
            <a:endParaRPr lang="en-US" altLang="en-US" sz="1800"/>
          </a:p>
          <a:p>
            <a:r>
              <a:rPr lang="en-US" altLang="en-US" sz="1800"/>
              <a:t>https://www.google.com/search?q=od280%2Fod315+of+diluted+wines&amp;rlz=1C1CHBF_enSG1000SG1000&amp;oq=OD280%2FOD315+of+diluted+wines&amp;gs_lcrp=EgZjaHJvbWUqBwgAEAAYgAQyBwgAEAAYgAQyDQgBEAAYhgMYgAQYigUyDQgCEAAYhgMYgAQYigUyDQgDEAAYhgMYgAQYigUyDQgEEAAYhgMYgAQYigUyDQgFEAAYhgMYgAQYigUyBggGEEUYOtIBBzk5M2owajmoAgCwAgE&amp;sourceid=chrome&amp;ie=UTF-8</a:t>
            </a:r>
            <a:endParaRPr lang="en-US" altLang="en-US" sz="1800"/>
          </a:p>
          <a:p>
            <a:r>
              <a:rPr lang="en-US" altLang="en-US" sz="1800"/>
              <a:t>https://www.rarewineinvest.com/news/2020/the-5-factors-that-are-important-for-the-development-of-wine/</a:t>
            </a:r>
            <a:endParaRPr lang="en-US" altLang="en-US" sz="1800"/>
          </a:p>
          <a:p>
            <a:r>
              <a:rPr lang="en-US" altLang="en-US" sz="1800"/>
              <a:t>https://scikit-learn.org/stable/modules/clustering.html#silhouette%02coefficient%20,</a:t>
            </a:r>
            <a:endParaRPr lang="en-US" altLang="en-US" sz="1800"/>
          </a:p>
          <a:p>
            <a:r>
              <a:rPr lang="en-US" altLang="en-US" sz="1800"/>
              <a:t>https://www.geeksforgeeks.org/davies-bouldin-index/</a:t>
            </a:r>
            <a:endParaRPr lang="en-US" altLang="en-US" sz="1800"/>
          </a:p>
          <a:p>
            <a:endParaRPr lang="en-US" altLang="en-US" sz="1800"/>
          </a:p>
          <a:p>
            <a:endParaRPr lang="en-US" altLang="en-US" sz="1800"/>
          </a:p>
        </p:txBody>
      </p:sp>
    </p:spTree>
  </p:cSld>
  <p:clrMapOvr>
    <a:masterClrMapping/>
  </p:clrMapOvr>
</p:sld>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2953</Words>
  <Application>WPS Presentation</Application>
  <PresentationFormat>Widescreen</PresentationFormat>
  <Paragraphs>109</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Arial</vt:lpstr>
      <vt:lpstr>SimSun</vt:lpstr>
      <vt:lpstr>Wingdings</vt:lpstr>
      <vt:lpstr>Microsoft YaHei</vt:lpstr>
      <vt:lpstr>Arial Unicode MS</vt:lpstr>
      <vt:lpstr>Calibri</vt:lpstr>
      <vt:lpstr>Green Color</vt:lpstr>
      <vt:lpstr>CA2 - APPLIED LEARNING ASSIGNMENT 2 Part A</vt:lpstr>
      <vt:lpstr>Contents Page</vt:lpstr>
      <vt:lpstr>Description of data</vt:lpstr>
      <vt:lpstr>Background Research</vt:lpstr>
      <vt:lpstr>Data Exploration</vt:lpstr>
      <vt:lpstr>Data Exploration</vt:lpstr>
      <vt:lpstr>Data Exploration</vt:lpstr>
      <vt:lpstr>Start of code</vt:lpstr>
      <vt:lpstr>Data Exploration (with a different method)</vt:lpstr>
      <vt:lpstr>Elbow method</vt:lpstr>
      <vt:lpstr>Silhouette Score</vt:lpstr>
      <vt:lpstr>Clustering Methods</vt:lpstr>
      <vt:lpstr>Evaluation Metrics</vt:lpstr>
      <vt:lpstr>Scatter plot to better show the features (1)</vt:lpstr>
      <vt:lpstr>Scatter plot to better show the features (2)</vt:lpstr>
      <vt:lpstr>Conclusion</vt:lpstr>
      <vt:lpstr>Sources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WPS_1704878147</cp:lastModifiedBy>
  <cp:revision>5</cp:revision>
  <dcterms:created xsi:type="dcterms:W3CDTF">2025-02-16T07:05:00Z</dcterms:created>
  <dcterms:modified xsi:type="dcterms:W3CDTF">2026-03-27T01:48:10Z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4E810F7F8EDD4214A03D7B3C86E3C1E6_13</vt:lpwstr>
  </property>
  <property fmtid="{D5CDD505-2E9C-101B-9397-08002B2CF9AE}" pid="3" name="KSOProductBuildVer">
    <vt:lpwstr>1033-12.1.0.25180</vt:lpwstr>
  </property>
</Properties>
</file>